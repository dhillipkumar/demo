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Lato Light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atoLight-bold.fntdata"/><Relationship Id="rId27" Type="http://schemas.openxmlformats.org/officeDocument/2006/relationships/font" Target="fonts/Lato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LatoLight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6.png"/><Relationship Id="rId12" Type="http://schemas.openxmlformats.org/officeDocument/2006/relationships/image" Target="../media/image30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11" Type="http://schemas.openxmlformats.org/officeDocument/2006/relationships/image" Target="../media/image20.png"/><Relationship Id="rId10" Type="http://schemas.openxmlformats.org/officeDocument/2006/relationships/image" Target="../media/image18.png"/><Relationship Id="rId12" Type="http://schemas.openxmlformats.org/officeDocument/2006/relationships/image" Target="../media/image44.png"/><Relationship Id="rId9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34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3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3512" y="2605087"/>
            <a:ext cx="17049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750456" y="2986087"/>
            <a:ext cx="869108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Effective Prompt Writing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910012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Mastering Productivity Suite for Alternatives, Risk, Fund &amp; ETF Operations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078706"/>
            <a:ext cx="52863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459706"/>
            <a:ext cx="555069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Meet Productivity Suite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747367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Built upon the advanced reasoning capabilities of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GPT-5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but securely fenced within our environment.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64628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combines world-class intelligence with secure access to our internal operational data, ensuring client confidentiality while delivering high-end automation.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880371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unlock its true potential, we must learn to speak its language.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5" y="1500187"/>
            <a:ext cx="9391650" cy="461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457450" y="2081212"/>
            <a:ext cx="7277100" cy="28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"An AI is like an eager, brilliant, but literal-minded analyst. The quality and accuracy of its output depend entirely on the clarity of your instructions."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276725" y="5262413"/>
            <a:ext cx="3638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RULE OF AI OPERATIONS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790700" y="2462212"/>
            <a:ext cx="634603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DB0011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766696" y="5071910"/>
            <a:ext cx="634603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DB0011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Prompting Matters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5286375" cy="454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95450"/>
            <a:ext cx="5286375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62025" y="21240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Bad Prompt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62025" y="26670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"Summarize this risk report."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62025" y="32766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Why it fails: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62025" y="370522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Too vague.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62025" y="4133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Lacks format structure.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45624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Ignores the target audience.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4991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Results in generic, unusable text.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21240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Good Prompt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2667000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"Act as an expert Risk Analyst. Summarize the top 3 operational risks from this incident report in bullet points. The summary is for Senior Management review."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24650" y="4133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Why it succeeds: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45624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Assigns a persona.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724650" y="4991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Specifies exact deliverables.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24650" y="541972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Considers the final audience.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1812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1812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Prompt Shift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5524500" y="2481262"/>
            <a:ext cx="1143000" cy="5715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2125503" y="2824162"/>
            <a:ext cx="7940992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The COSTAR Framework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286000" y="3919537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structured, repeatable approach to writing deterministic, high-quality prompts that eliminate guesswork.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6925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66925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66925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3622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1757630" y="3314700"/>
            <a:ext cx="11201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19150" y="3857625"/>
            <a:ext cx="29972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 necessary background information.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19150" y="4572000"/>
            <a:ext cx="29972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"We are evaluating a new Alternative Investment fund for onboarding..."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3622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415915" y="3314700"/>
            <a:ext cx="13601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Objective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905375" y="385762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 exactly what the task is.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597449" y="4286250"/>
            <a:ext cx="29972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"Extract the management fee structures and flag any non-standard clauses..."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3622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529256" y="3314700"/>
            <a:ext cx="69008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Style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16974" y="3857625"/>
            <a:ext cx="2914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Specify the writing style or persona.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375749" y="4286250"/>
            <a:ext cx="29972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"Write in a professional, objective, and analytical financial tone..."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03387" y="25527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05500" y="2552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83799" y="25527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Structuring the Input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2675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2675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6479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1967656" y="3600450"/>
            <a:ext cx="7000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Tone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141362" y="4143375"/>
            <a:ext cx="2352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 the emotional resonance.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19150" y="4572000"/>
            <a:ext cx="29972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"Keep the tone urgent but neutral, avoiding overly dramatic language..."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6479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415915" y="3600450"/>
            <a:ext cx="13601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Audience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072062" y="4143375"/>
            <a:ext cx="2047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Define who will read this.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597449" y="4572000"/>
            <a:ext cx="29972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"This is being prepared for the Global Head of Fund Operations..."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6479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174212" y="3600450"/>
            <a:ext cx="1400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Response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497937" y="4143375"/>
            <a:ext cx="2752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Dictate the exact format required.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375749" y="4572000"/>
            <a:ext cx="29972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"Present the findings in a 2-column markdown table format..."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27200" y="28384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57875" y="28384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31424" y="28384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Shaping the Output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3052762"/>
            <a:ext cx="48863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B001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4481512"/>
            <a:ext cx="4886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Live Scenarios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715125" y="2695575"/>
            <a:ext cx="515064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Let's Build Together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715125" y="32385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will apply COSTAR live in Productivity Suite to solve real daily challenges: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715125" y="39528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ETF Rebalancing Impact Summaries.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715125" y="438150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Operational Risk Incident Triage.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15125" y="48101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Fund Performance Commentary Drafts.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Interactive Demo Time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/>
          <p:nvPr/>
        </p:nvSpPr>
        <p:spPr>
          <a:xfrm>
            <a:off x="1333500" y="1709737"/>
            <a:ext cx="9525000" cy="1314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905000" y="1900237"/>
            <a:ext cx="8763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Iterative Prompting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Don't settle for the first output. Ask the AI to refine itself: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"This is good, but make the second section more concise and focus heavily on liquidity risk."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1333500" y="1709737"/>
            <a:ext cx="38100" cy="131445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1333500" y="3214687"/>
            <a:ext cx="9525000" cy="1314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905000" y="3405187"/>
            <a:ext cx="8763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Few-Shot Prompting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Show, don't just tell. If you want a specific output style, provide 1 or 2 examples of what "good" looks like inside your prompt before asking it to process new data.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1333500" y="3214687"/>
            <a:ext cx="38100" cy="131445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333500" y="4719637"/>
            <a:ext cx="9525000" cy="13144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905000" y="4910137"/>
            <a:ext cx="8763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Chain of Thought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complex data reconciliations, add the phrase: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"Think step-by-step before providing your final answer."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This drastically reduces logical errors.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1333500" y="4719637"/>
            <a:ext cx="38100" cy="131445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2100" y="1909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2100" y="34147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2100" y="49196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 Pro-Tips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349254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66912"/>
            <a:ext cx="349254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66912"/>
            <a:ext cx="349254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976437"/>
            <a:ext cx="3473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771525" y="4071937"/>
            <a:ext cx="32471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Fund Services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71525" y="4481512"/>
            <a:ext cx="3092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Automating daily NAV variance explanations and parsing lengthy prospectus documents for compliance checks.</a:t>
            </a:r>
            <a:endParaRPr/>
          </a:p>
        </p:txBody>
      </p:sp>
      <p:pic>
        <p:nvPicPr>
          <p:cNvPr descr="image.png" id="236" name="Google Shape;23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9324" y="1976437"/>
            <a:ext cx="3473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4549824" y="4071937"/>
            <a:ext cx="32471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Risk &amp; Resilience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549824" y="4481512"/>
            <a:ext cx="3092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Rapidly triaging incident reports, summarizing audit trails, and drafting regulatory response templates.</a:t>
            </a:r>
            <a:endParaRPr/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7624" y="1976437"/>
            <a:ext cx="3473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8328124" y="4071937"/>
            <a:ext cx="324712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Alternatives Ops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328124" y="4481512"/>
            <a:ext cx="3092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Extracting key financial clauses and dates from unstructured Private Equity capital call notices instantly.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Real-World Applications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7825"/>
            <a:ext cx="1104900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50" y="5281612"/>
            <a:ext cx="99441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Efficiency Gains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295275" y="2033587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351948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Let's draft some prompts for your specific workflows.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71500" y="43957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Asset Management Data Science Team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/>
          <p:nvPr/>
        </p:nvSpPr>
        <p:spPr>
          <a:xfrm>
            <a:off x="571500" y="22574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30289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380047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3019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3019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790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790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4733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733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24074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https://img.freepik.com/premium-photo/futuristic-blockchain-network-with-glowing-digital-nodes-representing-secure-data-connections_1294860-1016.jpg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26408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31789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https://png.pngtree.com/thumb_back/fw800/background/20251125/pngtree-professional-man-analyzing-financial-data-on-multiple-monitors-in-a-modern-image_20588574.webp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34123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9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66875" y="39433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https://static.vecteezy.com/system/resources/previews/071/520/934/non_2x/businessman-protecting-digital-bank-with-shield-secure-online-banking-concept-financial-security-data-protection-cyber-security-safeguarding-assets-risk-management-and-modern-technology-photo.jpg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43624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72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48863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https://static.vecteezy.com/system/resources/previews/054/056/077/large_2x/business-team-collaborating-on-financial-reports-and-strategies-in-a-modern-office-setting-photo.jpg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53054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